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00" y="-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1735C-41F3-16AC-0C25-830709B70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38E8A-1B92-4D43-A0EC-CD758C0D5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C8FFF-8462-7199-21FE-DA8B5AA45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0D4B-A85A-49B9-B40F-64E9FC1B9B84}" type="datetimeFigureOut">
              <a:rPr lang="en-SG" smtClean="0"/>
              <a:t>25/4/2026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E1CF-F162-7187-7B44-913595EC8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D51AF-CFC0-16B9-5391-27C76CAF5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5DC59-7370-4C1B-AB1A-A704610592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81369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93E7D-BEB2-2EF6-C475-BB7736E6C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1AD84-6E3D-5D36-C17E-204C57FD0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C9B1A-A659-8E5A-EDF8-A82DAEE53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0D4B-A85A-49B9-B40F-64E9FC1B9B84}" type="datetimeFigureOut">
              <a:rPr lang="en-SG" smtClean="0"/>
              <a:t>25/4/2026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125D9-8382-819F-214B-86F1B6EE0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FDDB9-977D-0B23-0930-CC32F8AAF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5DC59-7370-4C1B-AB1A-A704610592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6983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E4E89-6022-97A0-85FA-1BA6C1A8E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32F35-8369-0B10-8399-B33D512BF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26C0F-555E-21B5-9AA8-DE8B9BCA4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0D4B-A85A-49B9-B40F-64E9FC1B9B84}" type="datetimeFigureOut">
              <a:rPr lang="en-SG" smtClean="0"/>
              <a:t>25/4/2026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90DEC-83C8-F31F-F888-FB9468A3E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8F617-C6ED-9D8A-771C-8891C6749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5DC59-7370-4C1B-AB1A-A704610592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96467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8863F-F0FD-9FAD-3814-EBDE1C56E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ACA69-4770-9186-04FC-C154D96FC5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8C8D1-15C9-2432-6DB3-A17719A27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AF4FE2-0B99-9CB9-CCEF-CA843BC4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0D4B-A85A-49B9-B40F-64E9FC1B9B84}" type="datetimeFigureOut">
              <a:rPr lang="en-SG" smtClean="0"/>
              <a:t>25/4/2026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617F3-AE55-646C-6143-FE00BD9B6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6790FE-AAF4-5B43-359D-71A9B4F27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5DC59-7370-4C1B-AB1A-A704610592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50928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3A1E-8812-1A5D-7339-45D8B44D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3AA35-E9C4-9007-F0BA-62BC7ADF8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AE41B-445A-493C-8232-CA39D2F36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6FC9DF-8F00-B9DF-F603-80E8F3B88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72C206-F136-AB4D-F364-270F82DC3E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09525C-F107-68A6-0278-571731933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0D4B-A85A-49B9-B40F-64E9FC1B9B84}" type="datetimeFigureOut">
              <a:rPr lang="en-SG" smtClean="0"/>
              <a:t>25/4/2026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8F8A5D-49A2-6EEC-0BF5-1BA972879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ECA312-B593-9C44-5B50-98394FAE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5DC59-7370-4C1B-AB1A-A704610592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03781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0BA0C-5D9D-3E61-A069-420CE366F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DC535A-7DA7-9D25-EA77-8C85B348A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0D4B-A85A-49B9-B40F-64E9FC1B9B84}" type="datetimeFigureOut">
              <a:rPr lang="en-SG" smtClean="0"/>
              <a:t>25/4/2026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0CAEAD-2539-A589-715A-6D8D6D5F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9808BA-474B-B355-7910-C45090258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5DC59-7370-4C1B-AB1A-A704610592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19233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1F658A-4A07-2B30-6047-A10D682EC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0D4B-A85A-49B9-B40F-64E9FC1B9B84}" type="datetimeFigureOut">
              <a:rPr lang="en-SG" smtClean="0"/>
              <a:t>25/4/2026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AFC32-792D-488D-AAD6-DA5CBD221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083F9-966F-D63B-F76C-09D56665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5DC59-7370-4C1B-AB1A-A704610592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01136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AC6B7-826C-9F69-322F-C047AD80C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0D7B8-C7AB-A45E-EA5B-7B394E3ED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EECBA-D9CE-4838-013D-21FCC8948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F6CEF-D057-2C49-95D3-FEE28CEA9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0D4B-A85A-49B9-B40F-64E9FC1B9B84}" type="datetimeFigureOut">
              <a:rPr lang="en-SG" smtClean="0"/>
              <a:t>25/4/2026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97715-1370-6E65-D4A4-B6BBD9382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EBB1A-1146-4E5E-AFA3-DC72002C8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5DC59-7370-4C1B-AB1A-A704610592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56597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CE63E-FD4F-A8A7-C088-0F8B4A32A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A39EB4-19DC-76F9-CD97-FE50D0A478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765BF8-B918-CE29-224D-2D3836C2D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05CBA-E4C1-9311-05C0-25214FAA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0D4B-A85A-49B9-B40F-64E9FC1B9B84}" type="datetimeFigureOut">
              <a:rPr lang="en-SG" smtClean="0"/>
              <a:t>25/4/2026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FABD0-5515-2F23-5B55-02948F67A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8604A-FAA4-1C1F-69A1-47EFD3CB6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5DC59-7370-4C1B-AB1A-A704610592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4113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5DA8E-9175-544A-188F-4E88237A2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355F2-EAD7-FD68-4A01-5EAFCED15F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48A80-560F-31D1-BE9B-E35E6ADA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0D4B-A85A-49B9-B40F-64E9FC1B9B84}" type="datetimeFigureOut">
              <a:rPr lang="en-SG" smtClean="0"/>
              <a:t>25/4/2026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F4FE7-E525-5CAD-DB27-1C67C539F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C470D-2237-B024-A77F-C12DAC336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5DC59-7370-4C1B-AB1A-A704610592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04058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C78EFA-9F69-F4F7-471A-2E615EADB6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A538C9-5E35-AD67-572C-13A730E15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26B9B-615F-2293-8DB9-CF3FD011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0D4B-A85A-49B9-B40F-64E9FC1B9B84}" type="datetimeFigureOut">
              <a:rPr lang="en-SG" smtClean="0"/>
              <a:t>25/4/2026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D598-AF18-DB0B-E36D-52EABD619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B7059-1672-5219-2A1A-774568637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5DC59-7370-4C1B-AB1A-A704610592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3809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54F57D-B023-543E-8833-C476BB2E1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2F59D-6C63-FD9F-0EA7-4C9A029C5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883D3-50CD-CEB5-D30C-8F684C84B7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5A0D4B-A85A-49B9-B40F-64E9FC1B9B84}" type="datetimeFigureOut">
              <a:rPr lang="en-SG" smtClean="0"/>
              <a:t>25/4/2026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7BA6E-D08F-D371-D4B9-7F20367E26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5164D-5713-1003-A882-87FA16526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45DC59-7370-4C1B-AB1A-A704610592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0887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xgboost.readthedocs.io/en/stable/tutorials/model.html" TargetMode="External"/><Relationship Id="rId2" Type="http://schemas.openxmlformats.org/officeDocument/2006/relationships/hyperlink" Target="https://medium.com/@reddyyashu20/adaboostregressor-and-classifier-with-python-and-r-programming-8c4d49f3a50d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eksforgeeks.org/machine-learning/regression-using-lightgb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6A531-375E-B688-C32A-00B2613C6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2377"/>
            <a:ext cx="9144000" cy="896112"/>
          </a:xfrm>
        </p:spPr>
        <p:txBody>
          <a:bodyPr>
            <a:normAutofit fontScale="90000"/>
          </a:bodyPr>
          <a:lstStyle/>
          <a:p>
            <a:r>
              <a:rPr lang="en-US" dirty="0"/>
              <a:t>Boosting Algorithms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36E4A2-50B0-2B20-75C7-6825FED24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83080"/>
            <a:ext cx="9144000" cy="435254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Aptos (Body)"/>
              </a:rPr>
              <a:t>The main purpose of boosting is to increase predictive accuracy and reduce high bias in machine learning models.</a:t>
            </a:r>
            <a:br>
              <a:rPr lang="en-US" dirty="0">
                <a:latin typeface="Aptos (Body)"/>
              </a:rPr>
            </a:br>
            <a:br>
              <a:rPr lang="en-US" dirty="0">
                <a:latin typeface="Aptos (Body)"/>
              </a:rPr>
            </a:br>
            <a:r>
              <a:rPr lang="en-US" dirty="0">
                <a:latin typeface="Aptos (Body)"/>
                <a:cs typeface="Arial" panose="020B0604020202020204" pitchFamily="34" charset="0"/>
              </a:rPr>
              <a:t>Boosting is also one of the ensemble learning techniques, similar to </a:t>
            </a:r>
            <a:r>
              <a:rPr lang="en-US" b="1" dirty="0">
                <a:latin typeface="Aptos (Body)"/>
                <a:cs typeface="Arial" panose="020B0604020202020204" pitchFamily="34" charset="0"/>
              </a:rPr>
              <a:t>Random Forest</a:t>
            </a:r>
            <a:r>
              <a:rPr lang="en-US" dirty="0">
                <a:latin typeface="Aptos (Body)"/>
                <a:cs typeface="Arial" panose="020B0604020202020204" pitchFamily="34" charset="0"/>
              </a:rPr>
              <a:t>, where multiple models are created and combined sequentially to improve overall prediction performance.</a:t>
            </a:r>
          </a:p>
          <a:p>
            <a:pPr algn="l"/>
            <a:endParaRPr lang="en-US" dirty="0">
              <a:latin typeface="Aptos (Body)"/>
            </a:endParaRPr>
          </a:p>
          <a:p>
            <a:pPr algn="l"/>
            <a:r>
              <a:rPr lang="en-US" dirty="0">
                <a:latin typeface="Aptos (Body)"/>
              </a:rPr>
              <a:t>Following are the commonly boosting algorithms,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Aptos (Body)"/>
              </a:rPr>
              <a:t>AdaBoost (Adaptive Boosting)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 err="1">
                <a:latin typeface="Aptos (Body)"/>
              </a:rPr>
              <a:t>XGBoost</a:t>
            </a:r>
            <a:r>
              <a:rPr lang="en-US" dirty="0">
                <a:latin typeface="Aptos (Body)"/>
              </a:rPr>
              <a:t> (Extreme Gradient Boosting)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Aptos (Body)"/>
              </a:rPr>
              <a:t>LG Boost (Light Gradient Boosting) </a:t>
            </a:r>
          </a:p>
          <a:p>
            <a:pPr marL="457200" indent="-457200" algn="l">
              <a:buFont typeface="+mj-lt"/>
              <a:buAutoNum type="arabicPeriod"/>
            </a:pPr>
            <a:endParaRPr lang="en-US" dirty="0">
              <a:latin typeface="Aptos (Body)"/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latin typeface="Aptos (Body)"/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latin typeface="Aptos (Body)"/>
            </a:endParaRPr>
          </a:p>
          <a:p>
            <a:pPr marL="457200" indent="-457200" algn="l">
              <a:buFont typeface="+mj-lt"/>
              <a:buAutoNum type="arabicPeriod"/>
            </a:pPr>
            <a:endParaRPr lang="en-SG" dirty="0">
              <a:latin typeface="Aptos (Body)"/>
            </a:endParaRPr>
          </a:p>
        </p:txBody>
      </p:sp>
    </p:spTree>
    <p:extLst>
      <p:ext uri="{BB962C8B-B14F-4D97-AF65-F5344CB8AC3E}">
        <p14:creationId xmlns:p14="http://schemas.microsoft.com/office/powerpoint/2010/main" val="1403382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2AF4F-6E29-60C5-64F6-89D2590B9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AdaBoost (Adaptive Boosting)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6637F-AFA3-0F7C-68E2-F2B597A88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6169"/>
            <a:ext cx="10515600" cy="4351338"/>
          </a:xfrm>
        </p:spPr>
        <p:txBody>
          <a:bodyPr/>
          <a:lstStyle/>
          <a:p>
            <a:r>
              <a:rPr lang="en-US" dirty="0"/>
              <a:t>It gives </a:t>
            </a:r>
            <a:r>
              <a:rPr lang="en-US" b="1" dirty="0"/>
              <a:t>more importance to data points that were predicted poorly</a:t>
            </a:r>
            <a:r>
              <a:rPr lang="en-US" dirty="0"/>
              <a:t> in previous rounds.</a:t>
            </a:r>
          </a:p>
          <a:p>
            <a:r>
              <a:rPr lang="en-US" dirty="0"/>
              <a:t>It is an ensemble method that combines multiple weak models which have low predictive power, to create a strong model with high predictive power.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6C7337-6AD1-F4BD-4A2D-897F5665A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79" y="3823670"/>
            <a:ext cx="5303521" cy="226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87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ADA09-0BBF-A905-A49D-B2CD9E9AB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 (Extreme Gradient Boosting)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67A12-9686-E77E-9804-D6FB00800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Gradient boosting</a:t>
            </a:r>
            <a:r>
              <a:rPr lang="en-US" dirty="0"/>
              <a:t> refers to a class of ensemble machine learning algorithms that can be used for classification or regression predictive modeling problems.</a:t>
            </a:r>
          </a:p>
          <a:p>
            <a:r>
              <a:rPr lang="en-US" dirty="0"/>
              <a:t>Ensembles are constructed from decision tree models. Trees are added one at a time to the ensemble and fit to correct the prediction errors made by prior models. This is a type of ensemble machine learning model referred to as boosting.</a:t>
            </a:r>
          </a:p>
          <a:p>
            <a:r>
              <a:rPr lang="en-SG" dirty="0" err="1">
                <a:solidFill>
                  <a:srgbClr val="FF0000"/>
                </a:solidFill>
              </a:rPr>
              <a:t>xgboost</a:t>
            </a:r>
            <a:r>
              <a:rPr lang="en-SG" dirty="0"/>
              <a:t> is not an inbuild library in Python. Using the following pip command to install.</a:t>
            </a:r>
            <a:br>
              <a:rPr lang="en-SG" dirty="0"/>
            </a:br>
            <a:r>
              <a:rPr lang="en-SG" dirty="0">
                <a:solidFill>
                  <a:srgbClr val="002060"/>
                </a:solidFill>
                <a:latin typeface="Consolas" panose="020B0609020204030204" pitchFamily="49" charset="0"/>
              </a:rPr>
              <a:t>pip install </a:t>
            </a:r>
            <a:r>
              <a:rPr lang="en-SG" dirty="0" err="1">
                <a:solidFill>
                  <a:srgbClr val="002060"/>
                </a:solidFill>
                <a:latin typeface="Consolas" panose="020B0609020204030204" pitchFamily="49" charset="0"/>
              </a:rPr>
              <a:t>xgboost</a:t>
            </a:r>
            <a:endParaRPr lang="en-SG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514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0224C-7A98-4367-1271-58D8B6BF0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LG Boost (Light Gradient Boosting)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51718-B81A-B8EA-D947-64CDD8399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LightGBM</a:t>
            </a:r>
            <a:r>
              <a:rPr lang="en-US" dirty="0"/>
              <a:t> is a type of Gradient Boosting Machine (GBM) that utilizes a structure incorporating tree-based learning algorithms. </a:t>
            </a:r>
          </a:p>
          <a:p>
            <a:pPr marL="0" indent="0">
              <a:buNone/>
            </a:pPr>
            <a:endParaRPr lang="en-SG" dirty="0"/>
          </a:p>
          <a:p>
            <a:r>
              <a:rPr lang="en-SG" dirty="0" err="1"/>
              <a:t>lightgbm</a:t>
            </a:r>
            <a:r>
              <a:rPr lang="en-SG" dirty="0"/>
              <a:t> also not inbuild library, and use following pip command to </a:t>
            </a:r>
            <a:r>
              <a:rPr lang="en-SG" dirty="0" err="1"/>
              <a:t>intall</a:t>
            </a:r>
            <a:r>
              <a:rPr lang="en-SG" dirty="0"/>
              <a:t>.</a:t>
            </a:r>
            <a:br>
              <a:rPr lang="en-SG" dirty="0"/>
            </a:br>
            <a:r>
              <a:rPr lang="en-SG" dirty="0">
                <a:solidFill>
                  <a:srgbClr val="002060"/>
                </a:solidFill>
                <a:latin typeface="Consolas" panose="020B0609020204030204" pitchFamily="49" charset="0"/>
              </a:rPr>
              <a:t>pip install </a:t>
            </a:r>
            <a:r>
              <a:rPr lang="en-SG" dirty="0" err="1">
                <a:solidFill>
                  <a:srgbClr val="002060"/>
                </a:solidFill>
                <a:latin typeface="Consolas" panose="020B0609020204030204" pitchFamily="49" charset="0"/>
              </a:rPr>
              <a:t>lightgbm</a:t>
            </a:r>
            <a:endParaRPr lang="en-SG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340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D384D-C5A2-9E29-A4E4-F0FED533A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touch: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AF123-B9D9-5367-FD6E-5C179E5C2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10455"/>
            <a:ext cx="10515600" cy="1766507"/>
          </a:xfrm>
        </p:spPr>
        <p:txBody>
          <a:bodyPr/>
          <a:lstStyle/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645CEE-AF0C-4DE7-2AC1-92AD4A625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70647"/>
            <a:ext cx="9750552" cy="278987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B24A709-0097-2C8E-07BB-6630F2D6F028}"/>
              </a:ext>
            </a:extLst>
          </p:cNvPr>
          <p:cNvSpPr txBox="1">
            <a:spLocks/>
          </p:cNvSpPr>
          <p:nvPr/>
        </p:nvSpPr>
        <p:spPr>
          <a:xfrm>
            <a:off x="1042416" y="4410456"/>
            <a:ext cx="9418320" cy="1766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Based on the R2_score, </a:t>
            </a:r>
            <a:r>
              <a:rPr lang="en-US" dirty="0" err="1"/>
              <a:t>XGBoost</a:t>
            </a:r>
            <a:r>
              <a:rPr lang="en-US" dirty="0"/>
              <a:t> preforming better than others and AdaBoost giving poor performance for this dataset.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74937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51D33-F983-E9EA-4F76-899E812C5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References: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6B3AA-CFEE-F64C-0C55-40DB65B9A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AdaBoost</a:t>
            </a:r>
            <a:br>
              <a:rPr lang="en-SG" dirty="0"/>
            </a:br>
            <a:r>
              <a:rPr lang="en-SG" dirty="0">
                <a:hlinkClick r:id="rId2"/>
              </a:rPr>
              <a:t>https://medium.com/@reddyyashu20/adaboostregressor-and-classifier-with-python-and-r-programming-8c4d49f3a50d</a:t>
            </a:r>
            <a:endParaRPr lang="en-SG" dirty="0"/>
          </a:p>
          <a:p>
            <a:pPr marL="0" indent="0">
              <a:buNone/>
            </a:pPr>
            <a:endParaRPr lang="en-SG" dirty="0"/>
          </a:p>
          <a:p>
            <a:r>
              <a:rPr lang="en-SG" dirty="0"/>
              <a:t>XG Boost </a:t>
            </a:r>
            <a:r>
              <a:rPr lang="en-SG" dirty="0">
                <a:hlinkClick r:id="rId3"/>
              </a:rPr>
              <a:t>https://xgboost.readthedocs.io/en/stable/tutorials/model.html</a:t>
            </a:r>
            <a:endParaRPr lang="en-SG" dirty="0"/>
          </a:p>
          <a:p>
            <a:pPr marL="0" indent="0">
              <a:buNone/>
            </a:pPr>
            <a:endParaRPr lang="en-SG" dirty="0"/>
          </a:p>
          <a:p>
            <a:r>
              <a:rPr lang="en-US" dirty="0"/>
              <a:t>LG Boost (Light Gradient Boosting)</a:t>
            </a:r>
          </a:p>
          <a:p>
            <a:pPr marL="0" indent="0">
              <a:buNone/>
            </a:pPr>
            <a:r>
              <a:rPr lang="en-SG" dirty="0"/>
              <a:t>   </a:t>
            </a:r>
            <a:r>
              <a:rPr lang="en-SG" sz="2400" dirty="0">
                <a:hlinkClick r:id="rId4"/>
              </a:rPr>
              <a:t>https://www.geeksforgeeks.org/machine-learning/regression-using-lightgbm/</a:t>
            </a:r>
            <a:endParaRPr lang="en-SG" sz="2400" dirty="0"/>
          </a:p>
          <a:p>
            <a:pPr marL="0" indent="0">
              <a:buNone/>
            </a:pPr>
            <a:endParaRPr lang="en-SG" dirty="0"/>
          </a:p>
          <a:p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83134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339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(Body)</vt:lpstr>
      <vt:lpstr>Aptos Display</vt:lpstr>
      <vt:lpstr>Arial</vt:lpstr>
      <vt:lpstr>Consolas</vt:lpstr>
      <vt:lpstr>Office Theme</vt:lpstr>
      <vt:lpstr>Boosting Algorithms</vt:lpstr>
      <vt:lpstr>AdaBoost (Adaptive Boosting)</vt:lpstr>
      <vt:lpstr>XGBoost (Extreme Gradient Boosting)</vt:lpstr>
      <vt:lpstr>LG Boost (Light Gradient Boosting) </vt:lpstr>
      <vt:lpstr>Final touch: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Ruban</dc:creator>
  <cp:lastModifiedBy>Ruban</cp:lastModifiedBy>
  <cp:revision>51</cp:revision>
  <dcterms:created xsi:type="dcterms:W3CDTF">2026-04-24T22:32:25Z</dcterms:created>
  <dcterms:modified xsi:type="dcterms:W3CDTF">2026-04-25T06:52:41Z</dcterms:modified>
</cp:coreProperties>
</file>